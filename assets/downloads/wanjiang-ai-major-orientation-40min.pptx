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学分</c:f>
              <c:strCache>
                <c:ptCount val="1"/>
                <c:pt idx="0">
                  <c:v>学分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007F82"/>
              </a:solidFill>
            </c:spPr>
          </c:dPt>
          <c:dPt>
            <c:idx val="1"/>
            <c:bubble3D val="0"/>
            <c:spPr>
              <a:solidFill>
                <a:srgbClr val="DAE5E7"/>
              </a:solidFill>
            </c:spPr>
          </c:dPt>
          <c:dLbls>
            <c:delete val="1"/>
          </c:dLbls>
          <c:cat>
            <c:strRef>
              <c:f>'Chart Data'!$A$2:$A$3</c:f>
              <c:strCache>
                <c:ptCount val="2"/>
                <c:pt idx="0">
                  <c:v>实践教学</c:v>
                </c:pt>
                <c:pt idx="1">
                  <c:v>其他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52.5</c:v>
                </c:pt>
                <c:pt idx="1">
                  <c:v>121.5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7a10047a-6ab3-4d31-86f8-6628b2ab541b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每周小时</c:f>
              <c:strCache>
                <c:ptCount val="1"/>
                <c:pt idx="0">
                  <c:v>每周小时</c:v>
                </c:pt>
              </c:strCache>
            </c:strRef>
          </c:tx>
          <c:spPr>
            <a:solidFill>
              <a:srgbClr val="007F82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Data'!$A$2:$A$5</c:f>
              <c:strCache>
                <c:ptCount val="4"/>
                <c:pt idx="0">
                  <c:v>高数与数学复盘</c:v>
                </c:pt>
                <c:pt idx="1">
                  <c:v>英语与四六级准备</c:v>
                </c:pt>
                <c:pt idx="2">
                  <c:v>编程与调试</c:v>
                </c:pt>
                <c:pt idx="3">
                  <c:v>小项目或复盘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650" b="0" i="0" u="none" strike="noStrike" kern="1200" baseline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b"/>
        <c:majorGridlines>
          <c:spPr>
            <a:ln w="9525">
              <a:solidFill>
                <a:srgbClr val="D5E1E1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75" b="0" i="0" u="none" strike="noStrike" kern="1200" baseline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</a:p>
        </c:txPr>
        <c:crossAx val="48650112"/>
        <c:crosses val="autoZero"/>
        <c:crossBetween val="between"/>
        <c:majorUnit val="1"/>
      </c:valAx>
    </c:plotArea>
    <c:plotVisOnly val="1"/>
    <c:dispBlanksAs val="gap"/>
    <c:showDLblsOverMax val="0"/>
    <c:extLst>
      <c:ext uri="{0b15fc19-7d7d-44ad-8c2d-2c3a37ce22c3}">
        <chartProps xmlns="https://web.wps.cn/et/2018/main" chartId="{5cdce2b9-f592-44f7-8cd0-b05ad16e36fd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【建议时长】约40秒</a:t>
            </a:r>
          </a:p>
          <a:p>
            <a:r>
              <a:t>【讲解提示】欢迎同学们。今天用大约40分钟回答：专业学什么、应用型高校怎样学、从本周起做什么。提醒大家，高数和英语与编程一样，需要从大一持续投入。</a:t>
            </a:r>
          </a:p>
          <a:p>
            <a:r>
              <a:t>【内容依据】本地资料：《2025版人工智能专业人才培养方案（试行）.docx》，第一部分培养目标。封面为AI生成概念插图。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【建议时长】约1分20秒</a:t>
            </a:r>
          </a:p>
          <a:p>
            <a:r>
              <a:t>【讲解提示】请同学和邻座讨论30秒，再请1位同学回答。追问“谁会用”“解决什么麻烦”。零基础同学可以从日常观察出发，无需提出复杂算法。</a:t>
            </a:r>
          </a:p>
          <a:p>
            <a:r>
              <a:t>【内容依据】互动设计；案例均为教学设想。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【建议时长】约1分10秒</a:t>
            </a:r>
          </a:p>
          <a:p>
            <a:r>
              <a:t>【讲解提示】用识别零件是否有缺陷解释“从样本中学习”。说明深度学习是机器学习的一类方法，而大模型应用只是专业的一部分。规则方法仍可能适合明确、稳定的问题。</a:t>
            </a:r>
          </a:p>
          <a:p>
            <a:r>
              <a:t>【内容依据】本地资料：《2025版人工智能专业人才培养方案（试行）.docx》，主干学科及主要理论课程；PyTorch Learn the Basics：https://docs.pytorch.org/tutorials/beginner/basics/intro.html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【讲解提示】让学生选择自己感兴趣的场景。强调案例不等于学校已经上线的项目。每个场景都需要质量评估，例如缺陷漏检、回答依据和设备运行安全。</a:t>
            </a:r>
          </a:p>
          <a:p>
            <a:r>
              <a:t>【内容依据】本地资料：《2025版人工智能专业人才培养方案（试行）.docx》，培养目标及毕业要求中的智能装备、计算机视觉等应用领域。图片为AI生成场景示意。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【讲解提示】解释应用型：重视扎实理论，也要能把理论转为可运行、可测试、可交付的系统。培养目标中“毕业后5年左右”的职业成长目标，要与毕业时能力要求区分。</a:t>
            </a:r>
          </a:p>
          <a:p>
            <a:r>
              <a:t>【内容依据】本地资料：《2025版人工智能专业人才培养方案（试行）.docx》，基本信息与第一部分。学院照片来自学校官网：https://www.wjut.edu.cn/news/col-news/pageinfo27590.html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【建议时长】约1分10秒</a:t>
            </a:r>
          </a:p>
          <a:p>
            <a:r>
              <a:t>【讲解提示】不要把52.5再加到174上。第二课堂10学分独立列出，涉及思想、文化、体育、创新创业、社会实践等。修满规定学分且各环节合格是毕业要求；学位还须符合学校授予条件。</a:t>
            </a:r>
          </a:p>
          <a:p>
            <a:r>
              <a:t>【内容依据】本地资料：《2025版人工智能专业人才培养方案（试行）.docx》，第六部分表1及第八部分。图中其他121.5=174-52.5。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【建议时长】约1分20秒</a:t>
            </a:r>
          </a:p>
          <a:p>
            <a:r>
              <a:t>【讲解提示】用一条主线串起课程：能写程序，能处理数据，能训练并评价模型，能做系统。专业认知实习在方案第3学期；不要与本次新生认知教育报告混同。</a:t>
            </a:r>
          </a:p>
          <a:p>
            <a:r>
              <a:t>【内容依据】本地资料：《2025版人工智能专业人才培养方案（试行）.docx》，第九部分表3、表5至表7。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【讲解提示】把核心课与高数、英语联系起来：理解优化需要数学，查新工具需要英文文档，写程序需要基础算法。不能等到大三才补大一的知识。</a:t>
            </a:r>
          </a:p>
          <a:p>
            <a:r>
              <a:t>【内容依据】本地资料：《2025版人工智能专业人才培养方案（试行）.docx》，第四部分及表5、表6；星号为核心课程标记。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【讲解提示】表中分组为帮助理解的学习主题，不是学校正式方向分流。不能把全部选修课讲成人人必修。提醒英语与论文检索能支持任何方向，选课需兼顾先修基础与学分要求。</a:t>
            </a:r>
          </a:p>
          <a:p>
            <a:r>
              <a:t>【内容依据】本地资料：《2025版人工智能专业人才培养方案（试行）.docx》，第九部分表6。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【讲解提示】实践要求应逐步加深，不能到毕业设计才第一次做完整项目。保留历次版本和失败记录，毕业时可以展示自己的成长。</a:t>
            </a:r>
          </a:p>
          <a:p>
            <a:r>
              <a:t>【内容依据】本地资料：《2025版人工智能专业人才培养方案（试行）.docx》，第五部分及第九部分表7。成果表述为对课程环节的学习建议。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【建议时长】约1分20秒</a:t>
            </a:r>
          </a:p>
          <a:p>
            <a:r>
              <a:t>【讲解提示】强调高数和英语必须纳入每天的学习安排，不能到期末或考级前才集中补。表中只摘出主线，大一还包括思政、体育、物理及通识等课程，也要完整修读。</a:t>
            </a:r>
          </a:p>
          <a:p>
            <a:r>
              <a:t>【内容依据】本地资料：《2025版人工智能专业人才培养方案（试行）.docx》，表3、表5、表7。高数5+6=11，大学英语大一3+4=7；大学英语Ⅰ至Ⅲ合计11学分。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【建议时长】约1分30秒</a:t>
            </a:r>
          </a:p>
          <a:p>
            <a:r>
              <a:t>【讲解提示】不要求新生现在掌握神经网络。说明高数会在机器学习中反复出现，学得薄弱就容易只会调用工具、难以判断问题。应用型培养也需要理论解释与建模能力。</a:t>
            </a:r>
          </a:p>
          <a:p>
            <a:r>
              <a:t>【内容依据】本地资料：《2025版人工智能专业人才培养方案（试行）.docx》，毕业要求1及数学、机器学习、深度学习课程。梯度与优化实例参考PyTorch基础教程：https://docs.pytorch.org/tutorials/beginner/basics/intro.html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【建议时长】约1分30秒</a:t>
            </a:r>
          </a:p>
          <a:p>
            <a:r>
              <a:t>【讲解提示】英语贯穿学习和发展。备考四六级可以促使听力、阅读、写作、翻译同步训练；阶段成绩也能帮助自我诊断。具体院校或岗位如何使用英语成绩，各有规定，不作普遍录用或升学保证。不要把机器翻译当作停止学英语的理由，应借助工具核对理解。</a:t>
            </a:r>
          </a:p>
          <a:p>
            <a:r>
              <a:t>【内容依据】本地资料：《2025版人工智能专业人才培养方案（试行）.docx》，表3及毕业要求9.2。CET定位：https://cet.neea.cn/xhtml1/folder/16033/247-1.htm 。图片为AI生成学习场景。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【建议时长】约1分40秒</a:t>
            </a:r>
          </a:p>
          <a:p>
            <a:r>
              <a:t>【讲解提示】30分钟是可坚持的日常起点，不是固定备考总量，基础薄弱或临近考试需调整。不能只背单词或只刷题，做完要听原文、找依据、改表达。全国规则规定修完相应课程，且四级成绩425分及以上等条件者可报六级，实际报名须以学校通知为准。所提供培养方案未把四六级分数直接列为毕业条件，不自行新增此要求。</a:t>
            </a:r>
          </a:p>
          <a:p>
            <a:r>
              <a:t>【内容依据】CET考核内容：https://cet.neea.edu.cn/html1/folder/16113/1586-1.htm；报考资格：https://cet.neea.edu.cn/xhtml1/report/16123/180-1.htm 。学习节奏为讲者建议。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【建议时长】约1分20秒</a:t>
            </a:r>
          </a:p>
          <a:p>
            <a:r>
              <a:t>【讲解提示】不要以敲了多少行代码评价学习。能从零写出一个小功能，能在输入为空或格式不对时处理异常，才是扎实进步。让学生展示自己的排错过程。</a:t>
            </a:r>
          </a:p>
          <a:p>
            <a:r>
              <a:t>【内容依据】本地资料：《2025版人工智能专业人才培养方案（试行）.docx》，高级语言程序设计、Python程序设计与课程设计。图片为AI生成学习场景。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【建议时长】约1分30秒</a:t>
            </a:r>
          </a:p>
          <a:p>
            <a:r>
              <a:t>【讲解提示】回扣应用型定位：准确率不是需求的全部。拍摄条件会变，系统还要够快，错误要可追溯，数据使用要有权限。大一可先完成图像读取与统计，大三再做模型。</a:t>
            </a:r>
          </a:p>
          <a:p>
            <a:r>
              <a:t>【内容依据】讲者构造的工程教学案例；图片为AI生成概念场景。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【建议时长】约1分40秒</a:t>
            </a:r>
          </a:p>
          <a:p>
            <a:r>
              <a:t>【讲解提示】请同学先算950除以1000，再问有缺陷的50个检出来几个。由此引出评价要贴近需求。数据拆分也要注意同一个零件或同批高度相似图像可能造成泄漏，应按合适单位分组。不要使用测试集选择模型。</a:t>
            </a:r>
          </a:p>
          <a:p>
            <a:r>
              <a:t>【内容依据】数值为教学假设。训练测试分离与预处理原则：scikit-learn Common pitfalls，https://scikit-learn.org/stable/common_pitfalls.html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【讲解提示】把学高数、英语和编程都纳入这个过程。高数要独立推导，英语要能复述，编程要有测试。做完后合上资料再试一次，更容易发现自己真正掌握了多少。</a:t>
            </a:r>
          </a:p>
          <a:p>
            <a:r>
              <a:t>【内容依据】讲者学习建议；插图为AI生成。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【建议时长】约1分20秒</a:t>
            </a:r>
          </a:p>
          <a:p>
            <a:r>
              <a:t>【讲解提示】这是可修改的时间样例，不是额外强制15小时。每天30分钟英语约3.5小时，再用约0.5小时进行周复盘。数学按课程难点增加练习，优先解决当天不懂的问题。</a:t>
            </a:r>
          </a:p>
          <a:p>
            <a:r>
              <a:t>【内容依据】讲者建议，图中时间为示例分配，5+4+4+2=15。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【建议时长】约1分10秒</a:t>
            </a:r>
          </a:p>
          <a:p>
            <a:r>
              <a:t>【讲解提示】演示怎样把AI当提问和反馈工具。学生仍须负责自己的推导、代码和引用。不能上传同学隐私或企业资料，也不能提交自己无法解释的整份答案。课程若禁止某类AI辅助，应遵守要求。</a:t>
            </a:r>
          </a:p>
          <a:p>
            <a:r>
              <a:t>【内容依据】讲者学习建议，呼应培养方案毕业要求5（工具及局限）与7（工程伦理）。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【讲解提示】将毕业要求中的知识、分析、研究、工具、沟通等转成可观察行为。竞赛与证书可以作为经历，但项目必须能说明自己的真实贡献。</a:t>
            </a:r>
          </a:p>
          <a:p>
            <a:r>
              <a:t>【内容依据】本地资料：《2025版人工智能专业人才培养方案（试行）.docx》，毕业要求1至5、8至11；清单为学习成果建议。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【讲解提示】讲一个可理解的例子：不能因为“只是作业”就采集同学人脸或把带个人信息的表格上传外部工具。工程伦理不只是末尾的一段声明，而是贯穿数据、实验与部署的选择。</a:t>
            </a:r>
          </a:p>
          <a:p>
            <a:r>
              <a:t>【内容依据】本地资料：《2025版人工智能专业人才培养方案（试行）.docx》，毕业要求6、7及培养目标3。图片为AI生成概念插图。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【讲解提示】避免一个人包办、其他人只挂名。技术基础不同，可以从资料、测试、数据、实现等环节分工，但每个人都要逐步理解整个系统。活动和竞赛参与按学校通知，不虚构具体组织。</a:t>
            </a:r>
          </a:p>
          <a:p>
            <a:r>
              <a:t>【内容依据】本地资料：《2025版人工智能专业人才培养方案（试行）.docx》，毕业要求8至10及第二课堂安排。图片为AI生成协作场景。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【建议时长】约1分10秒</a:t>
            </a:r>
          </a:p>
          <a:p>
            <a:r>
              <a:t>【讲解提示】不要用同一速度要求所有学生。基础弱的先补关键短板，基础好的可以提高项目深度。高数与英语要持续积累，不能只在大一学习一次就结束。</a:t>
            </a:r>
          </a:p>
          <a:p>
            <a:r>
              <a:t>【内容依据】基于培养方案课程进程提出的成长建议。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【讲解提示】这些是能力与任务示例，并非学校就业率或岗位供给预测。个人选择要结合兴趣、能力与实际招聘或招生要求，不承诺某证书必然带来机会。应用型本科同样可以继续深造。</a:t>
            </a:r>
          </a:p>
          <a:p>
            <a:r>
              <a:t>【内容依据】本地资料：《2025版人工智能专业人才培养方案（试行）.docx》，培养目标与毕业要求；方向和证据为讲者规划建议。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【建议时长】约50秒</a:t>
            </a:r>
          </a:p>
          <a:p>
            <a:r>
              <a:t>【讲解提示】Python官方教程面向有基本编程概念的读者，零基础应先跟随教师教学，不必一次读完。PyTorch适合后续专业学习，今天只需知道查官方资料的方法。</a:t>
            </a:r>
          </a:p>
          <a:p>
            <a:r>
              <a:t>【内容依据】Python：https://docs.python.org/zh-cn/3/tutorial/</a:t>
            </a:r>
          </a:p>
          <a:p>
            <a:r>
              <a:t>scikit-learn：https://scikit-learn.org/stable/common_pitfalls.html</a:t>
            </a:r>
          </a:p>
          <a:p>
            <a:r>
              <a:t>PyTorch：https://docs.pytorch.org/tutorials/beginner/basics/intro.html</a:t>
            </a:r>
          </a:p>
          <a:p>
            <a:r>
              <a:t>CET：https://cet.neea.edu.cn/html1/folder/16113/1586-1.htm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【建议时长】约1分钟</a:t>
            </a:r>
          </a:p>
          <a:p>
            <a:r>
              <a:t>【讲解提示】让学生拍下这一页，现场选出一个本周能做的动作。没有基础也不需要急于做大模型，先把当前课程掌握扎实。30天任务可按实际开课进度调整。</a:t>
            </a:r>
          </a:p>
          <a:p>
            <a:r>
              <a:t>【内容依据】讲者建议。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【建议时长】约3分钟（含提问）</a:t>
            </a:r>
          </a:p>
          <a:p>
            <a:r>
              <a:t>【讲解提示】请同学写下行动，例如周三晚把本周导数错题独立重做，或从今天起每天精听10分钟。最后开放问答：专业方向、课程适应、学习习惯都可以。</a:t>
            </a:r>
          </a:p>
          <a:p>
            <a:r>
              <a:t>【内容依据】收束与互动设计。</a:t>
            </a:r>
          </a:p>
          <a:p>
            <a:r>
              <a:t>【说明】课程、学分及学期依据所提供的2025版试行培养方案；如适用年级执行版本调整，以教务及学院通知为准。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6.xml"/><Relationship Id="rId4" Type="http://schemas.openxmlformats.org/officeDocument/2006/relationships/hyperlink" Target="https://docs.pytorch.org/tutorials/beginner/basics/intro.html" TargetMode="External"/><Relationship Id="rId3" Type="http://schemas.openxmlformats.org/officeDocument/2006/relationships/hyperlink" Target="https://scikit-learn.org/stable/common_pitfalls.html" TargetMode="External"/><Relationship Id="rId2" Type="http://schemas.openxmlformats.org/officeDocument/2006/relationships/hyperlink" Target="https://docs.python.org/zh-cn/3/tutorial/" TargetMode="External"/><Relationship Id="rId1" Type="http://schemas.openxmlformats.org/officeDocument/2006/relationships/hyperlink" Target="https://cet.neea.edu.cn/html1/folder/16113/1586-1.htm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09600" y="53340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皖江工学院</a:t>
            </a:r>
            <a:endParaRPr sz="19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971675"/>
            <a:ext cx="5619750" cy="1752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人工智能专业</a:t>
            </a:r>
            <a:endParaRPr sz="46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650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新生认知教育</a:t>
            </a:r>
            <a:endParaRPr sz="4650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181600"/>
            <a:ext cx="60007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00" b="0">
                <a:solidFill>
                  <a:srgbClr val="AEE6E3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夯实高数与英语基础，练就解决实际问题的能力</a:t>
            </a:r>
            <a:endParaRPr sz="1800" b="0">
              <a:solidFill>
                <a:srgbClr val="AEE6E3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36600" y="4318000"/>
            <a:ext cx="6000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C8E4E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学什么　怎么学　四年怎样成长</a:t>
            </a:r>
            <a:endParaRPr sz="2100" b="0">
              <a:solidFill>
                <a:srgbClr val="C8E4E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 认识专业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你希望四年后，自己能做出什么？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9907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先想一个你愿意解决的真实问题</a:t>
            </a:r>
            <a:endParaRPr sz="225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952750"/>
            <a:ext cx="628650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工厂里的缺陷检测</a:t>
            </a:r>
            <a:endParaRPr sz="27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能查证来源的校园问答</a:t>
            </a:r>
            <a:endParaRPr sz="27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帮助设备感知环境的小系统</a:t>
            </a:r>
            <a:endParaRPr sz="27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524875" y="2571750"/>
            <a:ext cx="2952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5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30 秒</a:t>
            </a:r>
            <a:endParaRPr sz="54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229600" y="3752850"/>
            <a:ext cx="3238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和邻座说一说</a:t>
            </a:r>
            <a:endParaRPr sz="20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问题在哪里，谁会使用</a:t>
            </a:r>
            <a:endParaRPr sz="20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今天的目标：看懂培养方案，找到自己的第一步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 认识专业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人工智能专业的学习对象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让计算机完成感知、学习、推理、生成与决策等任务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4003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人工智能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905125" y="2400300"/>
            <a:ext cx="8677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研究智能行为的实现方法，范围包含规则、搜索与学习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4671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机器学习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905125" y="3467100"/>
            <a:ext cx="8677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利用数据改进预测或决策，是人工智能的重要方法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4533900"/>
            <a:ext cx="20478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深度学习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05125" y="4533900"/>
            <a:ext cx="8677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以多层神经网络学习表示，常用于视觉、语音和语言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大模型是重要技术方向；专业学习还包括数学、程序、数据、系统与工程实践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01 认识专业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人工智能可以怎样服务实际场景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4396" b="24396"/>
          <a:stretch>
            <a:fillRect/>
          </a:stretch>
        </p:blipFill>
        <p:spPr>
          <a:xfrm>
            <a:off x="609600" y="1828800"/>
            <a:ext cx="10972800" cy="31623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09600" y="518160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工业视觉</a:t>
            </a:r>
            <a:endParaRPr sz="225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81500" y="518160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信息服务</a:t>
            </a:r>
            <a:endParaRPr sz="225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53400" y="518160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智能装备</a:t>
            </a:r>
            <a:endParaRPr sz="225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56769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检出表面缺陷，减少漏检</a:t>
            </a:r>
            <a:endParaRPr sz="18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81500" y="56769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检索资料，回答问题并列出依据</a:t>
            </a:r>
            <a:endParaRPr sz="18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153400" y="5676900"/>
            <a:ext cx="3333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感知环境，完成受约束的任务</a:t>
            </a:r>
            <a:endParaRPr sz="18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 看懂培养方案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皖江工学院的培养定位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43413"/>
            <a:ext cx="6191250" cy="304737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381875" y="2105025"/>
            <a:ext cx="4095750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立足安徽</a:t>
            </a:r>
            <a:endParaRPr sz="33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3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面向长三角</a:t>
            </a:r>
            <a:endParaRPr sz="33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381875" y="3648075"/>
            <a:ext cx="4095750" cy="1666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服务人工智能与智能制造</a:t>
            </a:r>
            <a:endParaRPr sz="23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培养解决复杂工程问题的</a:t>
            </a:r>
            <a:endParaRPr sz="23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应用型人才</a:t>
            </a:r>
            <a:endParaRPr sz="23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四年制本科　工学学士　专业代码 080717T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 看懂培养方案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06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学分结构体现了实践的重要性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971675"/>
            <a:ext cx="2857500" cy="1162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66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174</a:t>
            </a:r>
            <a:endParaRPr sz="66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57550"/>
            <a:ext cx="39052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专业素质培养学分</a:t>
            </a:r>
            <a:endParaRPr sz="21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4038600"/>
            <a:ext cx="4762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1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另需 10 学分</a:t>
            </a:r>
            <a:endParaRPr sz="315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4791075"/>
            <a:ext cx="4762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综合素质拓展（第二课堂）</a:t>
            </a:r>
            <a:endParaRPr sz="20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8" name="Chart"/>
          <p:cNvGraphicFramePr/>
          <p:nvPr/>
        </p:nvGraphicFramePr>
        <p:xfrm>
          <a:off x="6172200" y="1819275"/>
          <a:ext cx="476250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9" name="矩形 8"/>
          <p:cNvSpPr>
            <a:spLocks noGrp="1"/>
          </p:cNvSpPr>
          <p:nvPr/>
        </p:nvSpPr>
        <p:spPr>
          <a:xfrm>
            <a:off x="6943725" y="3257550"/>
            <a:ext cx="323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lnSpc>
                <a:spcPct val="115000"/>
              </a:lnSpc>
              <a:buNone/>
              <a:def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8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30.17%</a:t>
            </a:r>
            <a:endParaRPr sz="285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334125" y="5495925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ctr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ctr">
              <a:lnSpc>
                <a:spcPct val="115000"/>
              </a:lnSpc>
              <a:buNone/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实践教学 52.5 学分</a:t>
            </a:r>
            <a:endParaRPr sz="225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52.5 学分已包含在 174 学分内，其中集中实践 44 学分，课内实践 8.5 学分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 看懂培养方案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07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课程学习的四年递进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先建立基础，再进入模型与系统，最后完成综合实践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219325"/>
          <a:ext cx="10972800" cy="3619500"/>
        </p:xfrm>
        <a:graphic>
          <a:graphicData uri="http://schemas.openxmlformats.org/drawingml/2006/table">
            <a:tbl>
              <a:tblPr/>
              <a:tblGrid>
                <a:gridCol w="1333500"/>
                <a:gridCol w="6191250"/>
                <a:gridCol w="3448050"/>
              </a:tblGrid>
              <a:tr h="7239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阶段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方案中的代表课程与环节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逐步形成的能力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大一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高数Ⅰ、Ⅱ，大学英语Ⅰ、Ⅱ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高级语言程序设计，Python程序设计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读懂问题，写出基础程序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大二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概率统计，数字逻辑，数据结构与算法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数据挖掘与大数据分析，专业认知实习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组织数据，建立分析方法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大三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机器学习，嵌入式系统，计算机视觉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神经网络与深度学习及课程设计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训练模型，连接真实系统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大四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人工智能专业综合设计，毕业实习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毕业设计（论文）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完成综合方案并解释结果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按培养方案归纳代表性内容，非完整课表；各学期安排以实际教学通知为准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 看懂培养方案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08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专业核心课程各自解决什么问题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20027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Python程序设计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4572000" y="2200275"/>
            <a:ext cx="701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第2学期：用程序处理数据，表达计算过程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15277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机器学习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572000" y="3152775"/>
            <a:ext cx="701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第5学期：从样本中学习，比较模型并评价效果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10527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计算机视觉与模式识别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572000" y="4105275"/>
            <a:ext cx="701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第6学期：分析图像，识别目标或模式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057775"/>
            <a:ext cx="371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神经网络与深度学习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4572000" y="5057775"/>
            <a:ext cx="70104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第6学期：使用多层网络学习数据表示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以上四门在方案中标为核心理论课程；数学、数据结构和系统知识为其提供支撑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 看懂培养方案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09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选修课帮助你探索方向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先学好共同基础，再根据兴趣与项目需求组合学习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200275"/>
          <a:ext cx="10972800" cy="3609975"/>
        </p:xfrm>
        <a:graphic>
          <a:graphicData uri="http://schemas.openxmlformats.org/drawingml/2006/table">
            <a:tbl>
              <a:tblPr/>
              <a:tblGrid>
                <a:gridCol w="2238375"/>
                <a:gridCol w="5286375"/>
                <a:gridCol w="3448050"/>
              </a:tblGrid>
              <a:tr h="721995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探索方向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方案中的相关选修课举例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建议尝试</a:t>
                      </a:r>
                      <a:endParaRPr sz="18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72199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语言与大模型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自然语言处理、大模型技术应用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智能语音处理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带来源的资料问答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计算与系统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操作系统与Linux应用、计算机网络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计算机组成原理、智能计算系统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部署一个小型服务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  <a:tr h="72199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方法与智能体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最优化方法、算法设计与分析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博弈论与应用、多智能体系统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比较不同策略的效果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199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表达与检索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文献检索与论文写作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专业英语（智能科学类）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读文档，写技术报告</a:t>
                      </a:r>
                      <a:endParaRPr sz="18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方案列示专业选修课程合计 34 学分，应选 23 学分；具体开课与选课按学院安排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02 看懂培养方案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10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实践环节把知识连成完整作品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24075"/>
            <a:ext cx="1238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大一</a:t>
            </a:r>
            <a:endParaRPr sz="27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171700" y="2124075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高级语言程序课程设计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2171700" y="2543175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完成一个能运行的小程序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067050"/>
            <a:ext cx="1238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大二</a:t>
            </a:r>
            <a:endParaRPr sz="27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171700" y="306705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认知实习、数据结构与数据挖掘课程设计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71700" y="348615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学习观察需求与组织数据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010025"/>
            <a:ext cx="1238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大三</a:t>
            </a:r>
            <a:endParaRPr sz="27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171700" y="4010025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机器学习、视觉与深度学习课程设计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71700" y="4429125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进行实验、评价模型与分析错误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4953000"/>
            <a:ext cx="1238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7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大四</a:t>
            </a:r>
            <a:endParaRPr sz="27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71700" y="495300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专业综合设计、毕业实习、毕业设计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171700" y="537210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完成系统、文档与答辩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“课程设计完成了什么”应能用演示、代码、测试记录和报告回答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 大一的关键基础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11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大一先抓牢高数、英语和编程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高数Ⅰ、Ⅱ共 11 学分；大学英语Ⅰ、Ⅱ共 7 学分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257425"/>
          <a:ext cx="10972800" cy="3067052"/>
        </p:xfrm>
        <a:graphic>
          <a:graphicData uri="http://schemas.openxmlformats.org/drawingml/2006/table">
            <a:tbl>
              <a:tblPr/>
              <a:tblGrid>
                <a:gridCol w="1952625"/>
                <a:gridCol w="4505325"/>
                <a:gridCol w="4514850"/>
              </a:tblGrid>
              <a:tr h="766763"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学习主线</a:t>
                      </a:r>
                      <a:endParaRPr sz="20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第一学期</a:t>
                      </a:r>
                      <a:endParaRPr sz="20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第二学期</a:t>
                      </a:r>
                      <a:endParaRPr sz="202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766763"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数学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高等数学Ⅰ（5 学分）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高等数学Ⅱ（6 学分）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线性代数（2 学分）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6763"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英语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大学英语Ⅰ（3 学分）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大学英语Ⅱ（4 学分）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  <a:tr h="766763"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专业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人工智能概论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高级语言程序设计及课程设计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Python程序设计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210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信息与电子技术</a:t>
                      </a:r>
                      <a:endParaRPr sz="210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09600" y="56864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每周都要留下：独立做过的题、听读记录、自己调通的代码</a:t>
            </a:r>
            <a:endParaRPr sz="21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 大一的关键基础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12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高等数学帮助你理解模型怎样学习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学会用函数表达问题，用变化率理解改进方向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238375"/>
            <a:ext cx="247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函数与极限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333750" y="2238375"/>
            <a:ext cx="82486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描述输入与输出，理解近似、连续和模型变化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124200"/>
            <a:ext cx="247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导数与偏导数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33750" y="3124200"/>
            <a:ext cx="82486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理解参数改变时，误差为什么增大或减小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4010025"/>
            <a:ext cx="247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链式法则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33750" y="4010025"/>
            <a:ext cx="82486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为后续理解神经网络的反向传播打基础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895850"/>
            <a:ext cx="2476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积分与多元微积分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333750" y="4895850"/>
            <a:ext cx="824865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为概率计算、连续量分析和多变量建模打基础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线性代数帮助表示数据与网络；概率统计帮助处理不确定性。三者共同支撑专业课程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 大一的关键基础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14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英语与四六级，是大一就要启动的长期任务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47" r="47"/>
          <a:stretch>
            <a:fillRect/>
          </a:stretch>
        </p:blipFill>
        <p:spPr>
          <a:xfrm>
            <a:off x="6486525" y="1962150"/>
            <a:ext cx="5095875" cy="34004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09600" y="2047875"/>
            <a:ext cx="52863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读懂资料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2600325"/>
            <a:ext cx="52863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查官方文档、理解报错、阅读论文摘要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505200"/>
            <a:ext cx="5619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形成可展示的英语学习成果</a:t>
            </a:r>
            <a:endParaRPr sz="225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067175"/>
            <a:ext cx="53816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以四级、六级作为阶段目标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同步积累真实听读与表达能力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5267325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为升学与职业发展提前准备</a:t>
            </a:r>
            <a:endParaRPr sz="225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大学英语Ⅰ至Ⅲ共 11 学分；毕业要求 9.2 明确提出外语应用与交流能力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03 大一的关键基础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15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四六级准备：每天积累，每周检验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先做好四级准备，达到报考条件后继续向六级进阶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200275"/>
          <a:ext cx="10972800" cy="3095625"/>
        </p:xfrm>
        <a:graphic>
          <a:graphicData uri="http://schemas.openxmlformats.org/drawingml/2006/table">
            <a:tbl>
              <a:tblPr/>
              <a:tblGrid>
                <a:gridCol w="2143125"/>
                <a:gridCol w="5143500"/>
                <a:gridCol w="3686175"/>
              </a:tblGrid>
              <a:tr h="773906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频率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建议做法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可见成果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773906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每天 30 分钟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词句 10 分钟，精听 10 分钟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阅读 10 分钟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能复述一段内容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记住词在句中的用法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3906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每周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限时做题并分析错因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完成一段写作或翻译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错因清单与修改稿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  <a:tr h="773906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每两周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用同类任务检验薄弱项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读一小段专业英文文档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听读进步记录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自己的术语本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09600" y="561022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CET 笔试：听力 35%　阅读 35%　写作 15%　翻译 15%</a:t>
            </a:r>
            <a:endParaRPr sz="20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学习安排为建议；报考资格、报名时间及学位相关要求以学校当期通知为准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16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编程能力来自独立调通一个个小问题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45" r="45"/>
          <a:stretch>
            <a:fillRect/>
          </a:stretch>
        </p:blipFill>
        <p:spPr>
          <a:xfrm>
            <a:off x="6257925" y="1971675"/>
            <a:ext cx="5324475" cy="35528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09600" y="2228850"/>
            <a:ext cx="1066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先理解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924050" y="2228850"/>
            <a:ext cx="40671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写清输入、输出与处理步骤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095625"/>
            <a:ext cx="1066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再动手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924050" y="3095625"/>
            <a:ext cx="40671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从空白文件完成最小功能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962400"/>
            <a:ext cx="1066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会调试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924050" y="3962400"/>
            <a:ext cx="40671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读报错、找变量、构造测试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829175"/>
            <a:ext cx="1066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能解释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24050" y="4829175"/>
            <a:ext cx="40671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讲清每一段代码为什么存在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入门任务示例：成绩统计、文本词频、文件分类。语言安排跟随任课教师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17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贯穿案例：零件表面缺陷检测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任务设想：帮助质检员筛出可能有划痕的零件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9153" b="9153"/>
          <a:stretch>
            <a:fillRect/>
          </a:stretch>
        </p:blipFill>
        <p:spPr>
          <a:xfrm>
            <a:off x="609600" y="2247900"/>
            <a:ext cx="6296025" cy="3429000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7372350" y="2228850"/>
            <a:ext cx="4114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先问清楚需求</a:t>
            </a:r>
            <a:endParaRPr sz="24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372350" y="2943225"/>
            <a:ext cx="4114800" cy="2266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哪些缺陷必须检出？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漏掉一个会带来什么后果？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相机、光照和速度怎样变化？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结果由谁复核？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教学案例，非学校已部署系统；可先用公开、允许使用的数据完成课程练习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18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95% 的准确率，可能仍然没有用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假设 1,000 个零件中，有 950 个正常、50 个有缺陷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266950"/>
          <a:ext cx="10972800" cy="1571626"/>
        </p:xfrm>
        <a:graphic>
          <a:graphicData uri="http://schemas.openxmlformats.org/drawingml/2006/table">
            <a:tbl>
              <a:tblPr/>
              <a:tblGrid>
                <a:gridCol w="3333750"/>
                <a:gridCol w="2476500"/>
                <a:gridCol w="2476500"/>
                <a:gridCol w="2686050"/>
              </a:tblGrid>
              <a:tr h="785813"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简单策略</a:t>
                      </a:r>
                      <a:endParaRPr sz="21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答对数量</a:t>
                      </a:r>
                      <a:endParaRPr sz="21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表面准确率</a:t>
                      </a:r>
                      <a:endParaRPr sz="21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缺陷检出</a:t>
                      </a:r>
                      <a:endParaRPr sz="2100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785813">
                <a:tc>
                  <a:txBody>
                    <a:bodyPr wrap="square"/>
                    <a:lstStyle/>
                    <a:p>
                      <a:r>
                        <a:rPr sz="21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全部判为正常</a:t>
                      </a:r>
                      <a:endParaRPr sz="21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950 / 1,000</a:t>
                      </a:r>
                      <a:endParaRPr sz="21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95%</a:t>
                      </a:r>
                      <a:endParaRPr sz="21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175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0 / 50</a:t>
                      </a:r>
                      <a:endParaRPr sz="2175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609600" y="4391025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关键指标要围绕任务选择</a:t>
            </a:r>
            <a:endParaRPr sz="24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509587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关注缺陷召回率、误报数量和处理时间</a:t>
            </a:r>
            <a:endParaRPr sz="210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训练集用于学习，验证集用于选择，测试集用于最终评价</a:t>
            </a:r>
            <a:endParaRPr sz="210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数字为教学假设；测试数据应独立保留，预处理参数也只能从训练数据学习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19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一轮有效学习，应该留下四种证据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26864" b="26864"/>
          <a:stretch>
            <a:fillRect/>
          </a:stretch>
        </p:blipFill>
        <p:spPr>
          <a:xfrm>
            <a:off x="609600" y="1866900"/>
            <a:ext cx="10972800" cy="28575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09600" y="5048250"/>
            <a:ext cx="2514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理解概念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638800"/>
            <a:ext cx="2514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自己的推导与例子</a:t>
            </a:r>
            <a:endParaRPr sz="18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409950" y="5048250"/>
            <a:ext cx="2514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实现功能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409950" y="5638800"/>
            <a:ext cx="2514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能独立运行的代码</a:t>
            </a:r>
            <a:endParaRPr sz="18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10300" y="5048250"/>
            <a:ext cx="2514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设计检验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10300" y="5638800"/>
            <a:ext cx="2514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正常与异常测试</a:t>
            </a:r>
            <a:endParaRPr sz="18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010650" y="5048250"/>
            <a:ext cx="2514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复盘解释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010650" y="5638800"/>
            <a:ext cx="2514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错误原因与修改记录</a:t>
            </a:r>
            <a:endParaRPr sz="187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20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高数与英语的每周固定学习安排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6287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72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课外学习安排示例，共 15 小时；包含作业与自主练习，按课表和基础调整</a:t>
            </a:r>
            <a:endParaRPr sz="172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381000" y="2095500"/>
          <a:ext cx="68389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867650" y="23526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高数：当天消化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67650" y="2905125"/>
            <a:ext cx="3714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独立做题，整理错因</a:t>
            </a:r>
            <a:endParaRPr sz="195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每周回看一次薄弱概念</a:t>
            </a:r>
            <a:endParaRPr sz="195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67650" y="420052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英语：每天接触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867650" y="4752975"/>
            <a:ext cx="371475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日常听读配合周末写译</a:t>
            </a:r>
            <a:endParaRPr sz="195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95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按反馈调整练习重点</a:t>
            </a:r>
            <a:endParaRPr sz="195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同时安排体育、睡眠、社交和第二课堂；课程集中或考试周可弹性调整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21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AI 工具可以成为陪练，但验证要由你完成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047875"/>
            <a:ext cx="5334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一次更有效的提问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800350"/>
            <a:ext cx="6000750" cy="2190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“这是我的解题思路和代码。</a:t>
            </a:r>
            <a:endParaRPr sz="24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请指出可能的问题，</a:t>
            </a:r>
            <a:endParaRPr sz="24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先给一个提示，</a:t>
            </a:r>
            <a:endParaRPr sz="24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再给我两个边界测试。”</a:t>
            </a:r>
            <a:endParaRPr sz="24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10475" y="2143125"/>
            <a:ext cx="38576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25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先有自己的尝试</a:t>
            </a:r>
            <a:endParaRPr sz="225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610475" y="3000375"/>
            <a:ext cx="3857625" cy="2286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解释关键步骤</a:t>
            </a:r>
            <a:endParaRPr sz="210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独立运行与核算</a:t>
            </a:r>
            <a:endParaRPr sz="210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查原始文档与来源</a:t>
            </a:r>
            <a:endParaRPr sz="210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按课程规定说明 AI 使用</a:t>
            </a:r>
            <a:endParaRPr sz="2100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同样适用于高数与英语：先做再核对，发现错误后用自己的话重新解释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22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一个值得展示的项目，至少要回答这些问题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247900"/>
            <a:ext cx="23336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需求与边界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190875" y="2247900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给谁用？解决什么问题？暂时不能处理什么？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200400"/>
            <a:ext cx="23336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代码与运行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90875" y="3200400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别人能按说明复现吗？依赖和数据来源清楚吗？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4152900"/>
            <a:ext cx="23336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实验与测试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90875" y="4152900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与什么方法比较？哪些样例失败？结果是否真实？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5105400"/>
            <a:ext cx="23336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交付与表达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90875" y="5105400"/>
            <a:ext cx="839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能现场演示吗？能用一页报告讲清结论吗？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作品集建议保留：说明文档、代码、实验记录、演示材料，以及你负责的具体工作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矩形 13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23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工程能力，也包括对使用后果负责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2060" r="2060"/>
          <a:stretch>
            <a:fillRect/>
          </a:stretch>
        </p:blipFill>
        <p:spPr>
          <a:xfrm>
            <a:off x="6705600" y="1952625"/>
            <a:ext cx="4876800" cy="3390900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09600" y="2190750"/>
            <a:ext cx="1000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数据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857375" y="2190750"/>
            <a:ext cx="458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获取授权，减少收集，保护隐私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057525"/>
            <a:ext cx="1000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结果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857375" y="3057525"/>
            <a:ext cx="458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如实报告指标和失败案例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3924300"/>
            <a:ext cx="1000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使用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857375" y="3924300"/>
            <a:ext cx="458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明确适用范围，安排人工复核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4791075"/>
            <a:ext cx="100012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责任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57375" y="4791075"/>
            <a:ext cx="458152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考虑安全、成本和资源消耗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涉及真实用户、设备或企业数据的项目，先与指导教师确认范围及管理要求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04 应用型学生怎样学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24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团队项目让每个人都学到真实本领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4638" b="4638"/>
          <a:stretch>
            <a:fillRect/>
          </a:stretch>
        </p:blipFill>
        <p:spPr>
          <a:xfrm>
            <a:off x="609600" y="2000250"/>
            <a:ext cx="6315075" cy="381952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7486650" y="2133600"/>
            <a:ext cx="409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小组协作的基本约定</a:t>
            </a:r>
            <a:endParaRPr sz="232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86650" y="2924175"/>
            <a:ext cx="4095750" cy="2381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任务拆到具体的人与成果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每周演示一次阶段结果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记录问题、版本和变更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轮换讲解，让每人都能解释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第二课堂可以成为练习协作、表达、创新与社会责任的机会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 四年规划与立即行动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25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四年成长，可以积累成一份作品档案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2095500"/>
          <a:ext cx="10972800" cy="3819525"/>
        </p:xfrm>
        <a:graphic>
          <a:graphicData uri="http://schemas.openxmlformats.org/drawingml/2006/table">
            <a:tbl>
              <a:tblPr/>
              <a:tblGrid>
                <a:gridCol w="1524000"/>
                <a:gridCol w="4762500"/>
                <a:gridCol w="4686300"/>
              </a:tblGrid>
              <a:tr h="763905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阶段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建议的学习重点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建议留下的成果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76390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大一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高数与英语，编程入门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启动四级准备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1个独立小程序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数学错题与英语学习记录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390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大二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数据结构、概率统计与课程实践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按条件参加四六级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1个数据分析作品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可复现的实验报告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  <a:tr h="76390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大三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核心专业课、方向探索与项目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保持英文文档阅读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1个团队综合项目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清晰的个人贡献记录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3905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大四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毕业实习、毕业设计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针对目标补齐能力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可演示的毕业成果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作品集与职业或升学计划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以上成果数量与考级节奏为成长建议，不是额外毕业规定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 四年规划与立即行动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26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就业与升学，都需要可验证的基础能力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2152650"/>
          <a:ext cx="10972800" cy="3448050"/>
        </p:xfrm>
        <a:graphic>
          <a:graphicData uri="http://schemas.openxmlformats.org/drawingml/2006/table">
            <a:tbl>
              <a:tblPr/>
              <a:tblGrid>
                <a:gridCol w="2857500"/>
                <a:gridCol w="4429125"/>
                <a:gridCol w="3686175"/>
              </a:tblGrid>
              <a:tr h="689610"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发展方向示例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需要准备的能力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能展示的证据</a:t>
                      </a:r>
                      <a:endParaRPr sz="1875" b="1">
                        <a:solidFill>
                          <a:srgbClr val="FFFFFF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T w="6191">
                      <a:solidFill>
                        <a:srgbClr val="D5E1E1"/>
                      </a:solidFill>
                      <a:prstDash val="solid"/>
                    </a:lnT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102C43"/>
                    </a:solidFill>
                  </a:tcPr>
                </a:tc>
              </a:tr>
              <a:tr h="68961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AI应用与软件开发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编程、数据处理、接口与测试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能运行并说明边界的应用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视觉与智能设备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图像分析、模型评价、系统连接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对比实验与现场演示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  <a:tr h="68961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数据分析与工程支持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统计、数据库、业务理解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分析报告与可复现流程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继续深造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L w="6191">
                      <a:solidFill>
                        <a:srgbClr val="D5E1E1"/>
                      </a:solidFill>
                      <a:prstDash val="solid"/>
                    </a:lnL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数学、英语、专业基础与研究训练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73247"/>
                          </a:solidFill>
                          <a:latin typeface="Hiragino Sans GB" panose="020B0300000000000000" charset="-122"/>
                          <a:ea typeface="Hiragino Sans GB" panose="020B0300000000000000" charset="-122"/>
                          <a:cs typeface="Hiragino Sans GB" panose="020B0300000000000000" charset="-122"/>
                        </a:rPr>
                        <a:t>课程基础、实验记录与研究表达</a:t>
                      </a:r>
                      <a:endParaRPr sz="1950" b="0">
                        <a:solidFill>
                          <a:srgbClr val="173247"/>
                        </a:solidFill>
                        <a:latin typeface="Hiragino Sans GB" panose="020B0300000000000000" charset="-122"/>
                        <a:ea typeface="Hiragino Sans GB" panose="020B0300000000000000" charset="-122"/>
                        <a:cs typeface="Hiragino Sans GB" panose="020B0300000000000000" charset="-122"/>
                      </a:endParaRPr>
                    </a:p>
                  </a:txBody>
                  <a:tcPr marL="152400" marR="114300" marT="95250" marB="95250" anchor="ctr">
                    <a:lnR w="6191">
                      <a:solidFill>
                        <a:srgbClr val="D5E1E1"/>
                      </a:solidFill>
                      <a:prstDash val="solid"/>
                    </a:lnR>
                    <a:lnB w="6191">
                      <a:solidFill>
                        <a:srgbClr val="D5E1E1"/>
                      </a:solidFill>
                      <a:prstDash val="solid"/>
                    </a:lnB>
                    <a:solidFill>
                      <a:srgbClr val="E7F1E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609600" y="5810250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高数支撑专业深度，英语支持持续学习与进一步发展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 四年规划与立即行动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27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学习资源：跟随课程，再读官方资料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33600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高数与大学英语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733800" y="2133600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课程教材、教师习题与答疑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733800" y="2571750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先解决本周课程中的概念和练习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095625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四六级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33800" y="3095625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1"/>
              </a:rPr>
              <a:t>中国教育考试网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1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733800" y="3533775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查看考核内容与本校报名通知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4057650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Python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733800" y="4057650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2"/>
              </a:rPr>
              <a:t>Python 官方中文教程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  <a:hlinkClick r:id="rId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733800" y="4495800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有基本编程概念后，边读边运行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5019675"/>
            <a:ext cx="2952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机器学习与深度学习</a:t>
            </a:r>
            <a:endParaRPr sz="21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733800" y="5019675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3"/>
              </a:rPr>
              <a:t>scikit-learn</a:t>
            </a: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/ </a:t>
            </a: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  <a:hlinkClick r:id="rId4"/>
              </a:rPr>
              <a:t>PyTorch</a:t>
            </a:r>
            <a:r>
              <a:rPr sz="2100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 官方文档</a:t>
            </a:r>
            <a:endParaRPr sz="2100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733800" y="5457825"/>
            <a:ext cx="77533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先学数据划分，再做基础训练示例</a:t>
            </a:r>
            <a:endParaRPr sz="18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网页标题可点击；先完成一个主题的小练习，再扩展资源，避免只收藏不动手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 四年规划与立即行动</a:t>
            </a:r>
            <a:endParaRPr sz="1275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28</a:t>
            </a:r>
            <a:endParaRPr sz="1275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大一开始的 30 天行动计划</a:t>
            </a:r>
            <a:endParaRPr sz="32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0502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 1 周</a:t>
            </a:r>
            <a:endParaRPr sz="24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505075" y="210502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建立起点</a:t>
            </a:r>
            <a:endParaRPr sz="23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62550" y="2105025"/>
            <a:ext cx="64198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梳理高数薄弱概念，做英语自测，配好课程编程环境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304800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 2 周</a:t>
            </a:r>
            <a:endParaRPr sz="24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505075" y="3048000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稳定节奏</a:t>
            </a:r>
            <a:endParaRPr sz="23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162550" y="3048000"/>
            <a:ext cx="64198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每天听读英语，独立完成高数题，记录程序错误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3990975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 3 周</a:t>
            </a:r>
            <a:endParaRPr sz="24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505075" y="3990975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完成小任务</a:t>
            </a:r>
            <a:endParaRPr sz="23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162550" y="3990975"/>
            <a:ext cx="64198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用所学语言做一个统计或文件处理小程序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9600" y="493395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00" b="1">
                <a:solidFill>
                  <a:srgbClr val="007F8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第 4 周</a:t>
            </a:r>
            <a:endParaRPr sz="2400" b="1">
              <a:solidFill>
                <a:srgbClr val="007F8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505075" y="4933950"/>
            <a:ext cx="2476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325" b="1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展示与调整</a:t>
            </a:r>
            <a:endParaRPr sz="2325" b="1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162550" y="4933950"/>
            <a:ext cx="6419850" cy="771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025" b="0">
                <a:solidFill>
                  <a:srgbClr val="173247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演示程序，复盘数学错题，检查英语练习成效</a:t>
            </a:r>
            <a:endParaRPr sz="2025" b="0">
              <a:solidFill>
                <a:srgbClr val="173247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9600" y="6276975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00" b="0">
                <a:solidFill>
                  <a:srgbClr val="50657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记录“我独立完成了什么、还不懂什么、下周如何改进”，让进步可见</a:t>
            </a:r>
            <a:endParaRPr sz="1200" b="0">
              <a:solidFill>
                <a:srgbClr val="50657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C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7622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05 四年规划与立即行动</a:t>
            </a:r>
            <a:endParaRPr sz="1275" b="1">
              <a:solidFill>
                <a:srgbClr val="51C8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1087100" y="276225"/>
            <a:ext cx="4953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r"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r">
              <a:lnSpc>
                <a:spcPct val="115000"/>
              </a:lnSpc>
              <a:buNone/>
              <a:def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275" b="0">
                <a:solidFill>
                  <a:srgbClr val="A9C5D0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29</a:t>
            </a:r>
            <a:endParaRPr sz="1275" b="0">
              <a:solidFill>
                <a:srgbClr val="A9C5D0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38200"/>
            <a:ext cx="109728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32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你的第一步，从本周开始</a:t>
            </a:r>
            <a:endParaRPr sz="32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2143125"/>
            <a:ext cx="10477500" cy="2400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高数认真学</a:t>
            </a:r>
            <a:endParaRPr sz="4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英语持续练</a:t>
            </a:r>
            <a:endParaRPr sz="4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  <a:p>
            <a:pPr algn="l">
              <a:lnSpc>
                <a:spcPct val="115000"/>
              </a:lnSpc>
              <a:buNone/>
              <a:def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4425" b="1">
                <a:solidFill>
                  <a:srgbClr val="FFFFFF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程序亲手写</a:t>
            </a:r>
            <a:endParaRPr sz="4425" b="1">
              <a:solidFill>
                <a:srgbClr val="FFFFFF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5057775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2475" b="1">
                <a:solidFill>
                  <a:srgbClr val="51C8CC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写下一个具体动作，给它安排一个固定时间</a:t>
            </a:r>
            <a:endParaRPr sz="2475" b="1">
              <a:solidFill>
                <a:srgbClr val="51C8CC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6000750"/>
            <a:ext cx="9334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defPPr>
            <a:lvl1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1pPr>
            <a:lvl2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2pPr>
            <a:lvl3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3pPr>
            <a:lvl4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4pPr>
            <a:lvl5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5pPr>
            <a:lvl6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6pPr>
            <a:lvl7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7pPr>
            <a:lvl8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8pPr>
            <a:lvl9pPr algn="l"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lvl9pPr>
          </a:lstStyle>
          <a:p>
            <a:pPr algn="l">
              <a:lnSpc>
                <a:spcPct val="115000"/>
              </a:lnSpc>
              <a:buNone/>
              <a:def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defRPr>
            </a:pPr>
            <a:r>
              <a:rPr sz="1875" b="0">
                <a:solidFill>
                  <a:srgbClr val="C8DBE2"/>
                </a:solidFill>
                <a:latin typeface="Hiragino Sans GB" panose="020B0300000000000000" charset="-122"/>
                <a:ea typeface="Hiragino Sans GB" panose="020B0300000000000000" charset="-122"/>
                <a:cs typeface="Hiragino Sans GB" panose="020B0300000000000000" charset="-122"/>
              </a:rPr>
              <a:t>交流与提问</a:t>
            </a:r>
            <a:endParaRPr sz="1875" b="0">
              <a:solidFill>
                <a:srgbClr val="C8DBE2"/>
              </a:solidFill>
              <a:latin typeface="Hiragino Sans GB" panose="020B0300000000000000" charset="-122"/>
              <a:ea typeface="Hiragino Sans GB" panose="020B0300000000000000" charset="-122"/>
              <a:cs typeface="Hiragino Sans GB" panose="020B03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4264</Words>
  <Application>WPS 演示</Application>
  <PresentationFormat>Converted Presentation</PresentationFormat>
  <Paragraphs>731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宋体</vt:lpstr>
      <vt:lpstr>Wingdings</vt:lpstr>
      <vt:lpstr>Hiragino Sans GB</vt:lpstr>
      <vt:lpstr>微软雅黑</vt:lpstr>
      <vt:lpstr>方正雅意黑 GB18030L2</vt:lpstr>
      <vt:lpstr>宋体</vt:lpstr>
      <vt:lpstr>Arial Unicode MS</vt:lpstr>
      <vt:lpstr>汉仪书宋二KW</vt:lpstr>
      <vt:lpstr>Aptos</vt:lpstr>
      <vt:lpstr>Helvetica Neue</vt:lpstr>
      <vt:lpstr>Calibri</vt:lpstr>
      <vt:lpstr>宋体-简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李敏</cp:lastModifiedBy>
  <cp:revision>4</cp:revision>
  <dcterms:created xsi:type="dcterms:W3CDTF">2026-10-21T04:35:05Z</dcterms:created>
  <dcterms:modified xsi:type="dcterms:W3CDTF">2026-10-21T04:35:05Z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31290055ED627B2E2A74D76AA199699F_43</vt:lpwstr>
  </property>
  <property fmtid="{D5CDD505-2E9C-101B-9397-08002B2CF9AE}" pid="3" name="KSOProductBuildVer">
    <vt:lpwstr>2052-12.1.28496.28496</vt:lpwstr>
  </property>
</Properties>
</file>